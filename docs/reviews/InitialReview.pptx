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63BBEA-FECF-4D43-AC9B-D538F81B5DD0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E66349-C8FC-4393-9931-6493CA7701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507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E66349-C8FC-4393-9931-6493CA7701D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23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5B35-0310-DEF2-AF4A-83905D89C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EF087-FC22-2360-6507-951A569FF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51AA2-EF21-B22C-2A48-CEB108B51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8789F-F9DB-4530-8C25-110B0D054CC1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32C99-EA3A-7784-C22C-2FC8E03DD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470FB-AD92-7ACF-7187-146073254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706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E73A-3E06-5EA6-E5E0-75795B553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33224-42D8-6A8A-B3C9-BD8238C98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BAC0B-5942-BC04-48EF-8158047D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E8654-D33C-4DCB-9E51-97BE8221D6F4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2B276-46C2-68BE-71DB-A68AFC955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F0D6C-1BC6-F439-9EB8-3A7A82925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169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44BC-4B50-6C59-75AD-482866EA8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96AED-FD99-6A43-00C5-BA24EED19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E3C4D-5FAD-8B36-2590-EB0F97F15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46A81-BEA3-4E4D-B534-A24D8164FB16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838E-1CFC-DEF3-02B9-E818B04CF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17C25-2B40-44B7-EBEE-C77BE6F75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82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3F003-6EDA-AE1E-E5C1-9E8E033D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E0034-52A4-D9B2-6E84-D92C74F0E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A8A701-60C2-F0B8-644D-500C6AA08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7CB57-5B26-AAFE-004D-87B5B68C7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6FABE-82CC-4207-869A-9FE43B3BD437}" type="datetime1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D0635-D5D5-1020-50A3-07DD16C25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98959-D528-9802-FFC0-2FF62EC6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651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E80-CFB8-99EE-BD83-DF11D8B19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2EB19-81F7-6632-3D39-CF33E3C87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A172B-5CB2-FE75-A0CB-B712C7967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BD31C1-4DC4-F558-43BC-04F3AB149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CA5D06-E5E8-D5EB-0B26-739E0FA0A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2E47FC-BEEF-3C2D-F8B7-0D2123AD2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F1235-0950-4FAD-858A-38CB385E7D42}" type="datetime1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295E52-4878-48CC-2EC4-AFC42B9BA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354C46-FCAB-C7BA-B14D-9E0EED6D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90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76891-4CAF-21C9-AD9A-2B97E9155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3D295F-FF4C-1A1E-6316-5D3FAB36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863E3-7281-408C-9B85-54974F772BFB}" type="datetime1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58AD2-ED64-A51D-5220-EE6414E9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095FAA-B388-7DF8-F18E-BB7B59A10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6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EB1EB2-4513-64C9-15FB-7CE642741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6E01D-8E84-4FD9-8310-14FDAB3430B3}" type="datetime1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2B8A7D-83C0-ED52-2A14-929DBDAB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17EF3-E102-071A-C173-06F31ABA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419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DEFBB-CEEE-5DD5-9578-9F7B41C0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B2B7A-3FF4-EA64-1EDE-A7A281188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1B8353-8F43-3003-342E-1F82C4C12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27544-A733-A898-57AA-5BA714E2E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ECDF0-E057-4B1B-A251-53AA1CD4F4AC}" type="datetime1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763D1-9D32-4ADA-3F7D-62E996A6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8E32C-4F31-843C-FF42-544468A0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442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FBD70-D363-343F-5887-EC607D55B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9C287C-ED10-D1B8-84A7-9C1D75E598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47507-9C2C-93ED-1284-7320F1BF7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6B7D4-4F2A-4B7F-0DFE-5B89B9FC0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26048-8DFC-4F0B-B0D2-A7DD9A044575}" type="datetime1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0D49F-4E71-7619-24DA-1C2B23D9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9264E-228B-F91D-D064-1754C06D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828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2A83-4818-8EA4-37B4-1E234AE85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03133A-26D1-B4A6-75EA-6CB49EFF7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AD55E-810D-957F-2F0A-946163BA1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3FF21-6505-4C84-96E4-5BB9E49E4D59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17DCD-5A6D-A0E5-35E2-AD2715DC2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48CD4-E9FC-A295-7DC2-3DC78CD4E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68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96E6A-A15B-B014-1AD5-D54C57793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356AA-E4F1-0E4E-5675-EB3B1C485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5FA92-A2B6-6719-01ED-73F057928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DB23C-65CE-4DF1-B83A-BF822E2BB1E2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19EDF-3E16-8332-9AC9-B52029EEE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69906-2176-91A7-D1A5-11313B19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26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C33F7-15F9-9E9C-22F4-FBE43585B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0F52E-82DE-6C27-9E98-A8F6CAB98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BD45C-FC54-314B-6F74-ECB62A1F7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2912F-57C5-4A5B-9D5F-FC9CE38D3A67}" type="datetime1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5FEA4-8049-5CF0-EFAB-85225B9A2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Private &amp;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DB796-39CB-5237-CBC5-6E240CB33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13C33-E173-4B61-B09A-57E6CCB9A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315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3EF181-C08B-5C7E-B2B2-A6A86FB0D2EC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Deterministic Data Reconciliation System</a:t>
            </a:r>
            <a:endParaRPr lang="en-IN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4A85524-6BC8-8164-5AAD-D01FEC21EE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203704"/>
            <a:ext cx="12192000" cy="2807208"/>
          </a:xfrm>
        </p:spPr>
        <p:txBody>
          <a:bodyPr>
            <a:noAutofit/>
          </a:bodyPr>
          <a:lstStyle/>
          <a:p>
            <a:r>
              <a:rPr sz="2700" dirty="0"/>
              <a:t>Numeric-Aware Fuzzy Matching with AI-Assisted Explainability</a:t>
            </a:r>
            <a:endParaRPr lang="en-IN" sz="2700" dirty="0"/>
          </a:p>
          <a:p>
            <a:endParaRPr sz="2700" dirty="0"/>
          </a:p>
          <a:p>
            <a:r>
              <a:rPr sz="2700" dirty="0"/>
              <a:t>Presented by: [</a:t>
            </a:r>
            <a:r>
              <a:rPr lang="en-IN" sz="2700" dirty="0"/>
              <a:t>Vaishnavi, </a:t>
            </a:r>
            <a:r>
              <a:rPr lang="en-IN" sz="2700" dirty="0" err="1"/>
              <a:t>aaa</a:t>
            </a:r>
            <a:r>
              <a:rPr lang="en-IN" sz="2700" dirty="0"/>
              <a:t>, </a:t>
            </a:r>
            <a:r>
              <a:rPr lang="en-IN" sz="2700" dirty="0" err="1"/>
              <a:t>bbb</a:t>
            </a:r>
            <a:r>
              <a:rPr lang="en-IN" sz="2700" dirty="0"/>
              <a:t>, and ccc</a:t>
            </a:r>
            <a:r>
              <a:rPr sz="2700" dirty="0"/>
              <a:t>]</a:t>
            </a:r>
            <a:endParaRPr lang="en-IN" sz="2700" dirty="0"/>
          </a:p>
          <a:p>
            <a:endParaRPr sz="2700" dirty="0"/>
          </a:p>
          <a:p>
            <a:r>
              <a:rPr sz="2700" dirty="0"/>
              <a:t>Date: January 29, 2026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7E858F5-6B07-0157-8E66-06FD8D1B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939BA-5729-4EFC-8D80-E7A944AEDDFE}" type="datetime1">
              <a:rPr lang="en-IN" smtClean="0"/>
              <a:t>29-01-2026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26A1F0-6FE3-8575-43AF-A96A1CA0A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CF81950-7AA9-0590-F7E6-C5631662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827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204E2-06F5-78B7-E1C3-B46926EA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379190-42E9-626C-1CFF-289EA1906D85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Agenda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B9841-5147-8003-706F-30A71246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0C6C2-2084-48DA-870E-F6A56E1E1B89}" type="datetime1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D469CC-CB97-0D9A-EFBD-5BD0EC54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1614F-7921-BAC0-DEAA-7AA5B402A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2</a:t>
            </a:fld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5F843E4-E9F9-EA24-88C2-093F74E01B72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Problem Statement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Proposed Solution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Key Features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Technology Stack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System Architecture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Methodology: Deterministic Matching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AI &amp; ML Integration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Conclusion &amp; Future Scope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30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7247D-DF80-93AC-5D54-C53C6C040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DCDA5E-6531-258D-2AC8-405E3E124D17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Problem Statement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AF9185-579A-71A5-6E0C-567987B44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29-01-2026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D7CB3-BF14-136C-6F0C-71BE70C54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4B151-5F98-4F10-82A8-7982F8AD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3</a:t>
            </a:fld>
            <a:endParaRPr lang="en-I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659D9D-F095-7BCA-7050-E0B0CD663E8F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Inaccurate Matching: Traditional fuzzy matching often ignores or underweights numeric identifiers (e.g., "Invoice 123" vs "Invoice 124").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High False Positives: Causes incorrect mappings in critical financial and operational datasets.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Non-Deterministic Results: Same inputs can produce inconsistent results across different runs.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Lack of Explainability: "Black box" matching provides no human-readable justification for compliance.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652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8C1B4-FB7B-4FAD-8971-EF1D04646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05B2140-073B-9514-522A-42B1977F3359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Proposed Solution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933225-2EA9-432D-725B-A3177A1D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29-01-2026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2F4A63-C61F-1BC0-51E2-E91BC4BA4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3BB83-D16B-0C32-FD09-ECA9DB0CB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4</a:t>
            </a:fld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0869CF-97FA-860E-9D5E-8773B1C4D4A5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Numeric-Awareness: Explicitly compares numbers embedded in text to enforce consistency.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Deterministic Logic: Guaranteed repeatability and stability of results.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AI-Assisted Explainability: GenAI generates natural language reasons for match decisions.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Confidence Analysis: ML models classify matches as HIGH, MEDIUM, or LOW confidence.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Auditability: Full traceability of every match decision.</a:t>
            </a:r>
          </a:p>
        </p:txBody>
      </p:sp>
    </p:spTree>
    <p:extLst>
      <p:ext uri="{BB962C8B-B14F-4D97-AF65-F5344CB8AC3E}">
        <p14:creationId xmlns:p14="http://schemas.microsoft.com/office/powerpoint/2010/main" val="462039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29C77-9666-E509-1179-C0C55B34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6EA52A-E3C9-D7FA-47D7-FD870E64C62B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Key Features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605DE2-DF61-221B-E218-5C85070A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C4A7FD-D19C-7634-8A26-BD0A364F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627EF-730E-F979-A757-366EEE85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5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410847-01B8-E8BE-3B6E-045D920D362C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Deterministic Matching Engine: Text similarity (</a:t>
            </a:r>
            <a:r>
              <a:rPr lang="en-US" sz="2000" dirty="0" err="1"/>
              <a:t>RapidFuzz</a:t>
            </a:r>
            <a:r>
              <a:rPr lang="en-US" sz="2000" dirty="0"/>
              <a:t>) + Strict numeric comparison.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GenAI Explanations: Human-readable justifications for ACCEPT/REJECT decisions.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ML-Based Confidence Scoring: Independent verification of match quality.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Role-Based Access Control (RBAC): Secure access for Analysts and Admins.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Comprehensive Audit Trail: Logs every decision, score, and explanation.</a:t>
            </a:r>
          </a:p>
        </p:txBody>
      </p:sp>
    </p:spTree>
    <p:extLst>
      <p:ext uri="{BB962C8B-B14F-4D97-AF65-F5344CB8AC3E}">
        <p14:creationId xmlns:p14="http://schemas.microsoft.com/office/powerpoint/2010/main" val="244099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30BC9-2264-2E26-D8E2-EBEF43FF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70F3E3-3E6E-7AC9-E0AF-CE5451E84118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Technology Stack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619D57-8CBB-742A-EEDC-52149D1F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A6EEBF-350E-CBF2-7FEF-CC4B4212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A3A9B-3E2B-33BC-3534-534583535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6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FE852E-7B98-C93E-2BD6-ECEFFE41655A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/>
              <a:t>Frontend: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IN" dirty="0"/>
              <a:t>React 19 (TypeScript)</a:t>
            </a:r>
          </a:p>
          <a:p>
            <a:pPr marL="800100" lvl="1" indent="-342900" algn="l">
              <a:buFont typeface="Wingdings" panose="05000000000000000000" pitchFamily="2" charset="2"/>
              <a:buChar char="ü"/>
            </a:pPr>
            <a:r>
              <a:rPr lang="en-IN" dirty="0"/>
              <a:t>Secure Authentication (JWT)</a:t>
            </a:r>
          </a:p>
          <a:p>
            <a:pPr algn="l"/>
            <a:r>
              <a:rPr lang="en-IN" dirty="0"/>
              <a:t>Backend:</a:t>
            </a:r>
          </a:p>
          <a:p>
            <a:pPr marL="800100" lvl="1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dirty="0"/>
              <a:t>Flask 3.x (Python 3.12)</a:t>
            </a:r>
          </a:p>
          <a:p>
            <a:pPr marL="800100" lvl="1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IN" dirty="0"/>
              <a:t>REST API Architecture</a:t>
            </a:r>
          </a:p>
          <a:p>
            <a:pPr algn="l"/>
            <a:r>
              <a:rPr lang="en-IN" dirty="0"/>
              <a:t>Data &amp; AI:</a:t>
            </a:r>
          </a:p>
          <a:p>
            <a:pPr marL="800100" lvl="1" indent="-34290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IN" dirty="0"/>
              <a:t>PostgreSQL (Database)</a:t>
            </a:r>
          </a:p>
          <a:p>
            <a:pPr marL="800100" lvl="1" indent="-34290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IN" dirty="0"/>
              <a:t>Google Gemini (GenAI for explanations)</a:t>
            </a:r>
          </a:p>
          <a:p>
            <a:pPr marL="800100" lvl="1" indent="-34290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IN" dirty="0"/>
              <a:t>Scikit-learn (ML for confidence scoring)</a:t>
            </a:r>
          </a:p>
          <a:p>
            <a:pPr marL="800100" lvl="1" indent="-342900" algn="l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en-IN" dirty="0" err="1"/>
              <a:t>RapidFuzz</a:t>
            </a:r>
            <a:r>
              <a:rPr lang="en-IN" dirty="0"/>
              <a:t> (String matching)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0035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8D206-C6B6-3755-F49E-E3679B4A7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44E7DA-6024-3BD2-B27F-5FBA3C07E3B6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System Architecture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9EA59E-4044-83AE-DEBE-E00DD76D0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12A433-749D-B020-A136-434AE955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63DA1-E6E9-C840-4063-0CCF43E50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4ED82F-6841-F203-CD4A-79B953BB7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" y="563148"/>
            <a:ext cx="8438262" cy="57749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F033E-DDEC-6FC9-3404-F2867F80FE81}"/>
              </a:ext>
            </a:extLst>
          </p:cNvPr>
          <p:cNvSpPr txBox="1">
            <a:spLocks/>
          </p:cNvSpPr>
          <p:nvPr/>
        </p:nvSpPr>
        <p:spPr>
          <a:xfrm>
            <a:off x="8912352" y="530352"/>
            <a:ext cx="3090672" cy="5825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600" b="1" dirty="0"/>
              <a:t>N-Tier Enterprise Architecture</a:t>
            </a:r>
            <a:endParaRPr lang="en-IN" b="1" dirty="0"/>
          </a:p>
          <a:p>
            <a:pPr algn="l">
              <a:lnSpc>
                <a:spcPct val="150000"/>
              </a:lnSpc>
            </a:pPr>
            <a:r>
              <a:rPr lang="en-IN" sz="1600" dirty="0"/>
              <a:t>1. Presentation Layer: React UI for job submission and result visualization.</a:t>
            </a:r>
          </a:p>
          <a:p>
            <a:pPr algn="l">
              <a:lnSpc>
                <a:spcPct val="150000"/>
              </a:lnSpc>
            </a:pPr>
            <a:r>
              <a:rPr lang="en-IN" sz="1600" dirty="0"/>
              <a:t>2. Application Layer: Flask API handling business logic, auth, and orchestration.</a:t>
            </a:r>
          </a:p>
          <a:p>
            <a:pPr algn="l">
              <a:lnSpc>
                <a:spcPct val="150000"/>
              </a:lnSpc>
            </a:pPr>
            <a:r>
              <a:rPr lang="en-IN" sz="1600" dirty="0"/>
              <a:t>3. Core Engine: Deterministic matching logic + AI/ML Service integration.</a:t>
            </a:r>
          </a:p>
          <a:p>
            <a:pPr algn="l">
              <a:lnSpc>
                <a:spcPct val="150000"/>
              </a:lnSpc>
            </a:pPr>
            <a:r>
              <a:rPr lang="en-IN" sz="1600" dirty="0"/>
              <a:t>4. Data Layer: PostgreSQL storing Users, Jobs, Matches, and Audit Logs.</a:t>
            </a:r>
          </a:p>
        </p:txBody>
      </p:sp>
    </p:spTree>
    <p:extLst>
      <p:ext uri="{BB962C8B-B14F-4D97-AF65-F5344CB8AC3E}">
        <p14:creationId xmlns:p14="http://schemas.microsoft.com/office/powerpoint/2010/main" val="1568549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AF453-EDFD-CCAF-B824-68381609C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1C47BB-F833-0C88-EBEB-5113C699C177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Methodology - The Matching Logic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392E45-F622-5DC1-27C1-C287839BA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C565CA-76E4-5D5D-13E1-34EB0E4C7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6BAB5-05F3-6AD7-0930-CF66B045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8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88CD66-1491-6AB4-BD17-B9604CA53711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How it works: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Input Processing: Ingests source and target datasets (Excel/CSV).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Signal Extraction: Extracts text tokens and numeric values from records.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Hybrid Scoring: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  - Calculates Text Similarity Score.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  - Performs Strict Numeric Check (Pass/Fail).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Decision Making: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  - If Numeric Check fails -&gt; REJECT (regardless of text similarity).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   - If Text Score &gt; Threshold AND Numeric Check passes -&gt; MATCH.</a:t>
            </a:r>
          </a:p>
          <a:p>
            <a:pPr marL="342900" indent="-342900" algn="l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AI Augmentation: Generates explanation and confidence score for the result.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963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A3A96-DF10-CD63-52ED-46D98BBDA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6B1B34A-1853-0742-7462-F187FFA1DEE5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AI &amp; ML Integration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D76BF2-F5AC-ED9B-4D0F-31F0A1F2C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5F2079-7110-08CD-62D2-181FECB98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BB245-E953-C5D5-2D01-AEAFBBFFB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9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98424D-2440-30D4-8F33-FBD620A9F664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Beyond Simple Matching: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GenAI (Google Gemini):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Input: Source text, Target text, Scores.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Output: "Matched because description is 95% similar and numeric identifiers '1001' are identical."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ML Confidence Model: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Features used: Text Score, Numeric Presence, Token Overlap.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Output: Confidence Level (HIGH / MEDIUM / LOW).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Benefit: Helps analysts prioritize manual review for Low/Medium confidence matches.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8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5D94B-E965-F6CE-D6F9-A64F5608E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9AB1A8-97EA-856E-02A5-849E5CA02E72}"/>
              </a:ext>
            </a:extLst>
          </p:cNvPr>
          <p:cNvSpPr/>
          <p:nvPr/>
        </p:nvSpPr>
        <p:spPr>
          <a:xfrm>
            <a:off x="0" y="0"/>
            <a:ext cx="12192000" cy="43891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Conclusion &amp; Future Scope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1CC288-1E88-C6A8-EDA3-9EB2506C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0526-B13C-439A-9391-99AE71BAF217}" type="datetime1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55488B-E085-0FDE-02FE-187FECE01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6B3BD-E0DD-86C4-4979-B96905F45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13C33-E173-4B61-B09A-57E6CCB9A758}" type="slidenum">
              <a:rPr lang="en-IN" smtClean="0"/>
              <a:t>10</a:t>
            </a:fld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5B84F5-C719-898F-497E-6C1C8032A9DD}"/>
              </a:ext>
            </a:extLst>
          </p:cNvPr>
          <p:cNvSpPr txBox="1">
            <a:spLocks/>
          </p:cNvSpPr>
          <p:nvPr/>
        </p:nvSpPr>
        <p:spPr>
          <a:xfrm>
            <a:off x="0" y="1600200"/>
            <a:ext cx="12192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dirty="0"/>
              <a:t>Conclusion: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Solves the "numeric blindness" of traditional fuzzy matching.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Provides compliance-ready audit trails with AI explanations.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Reduces manual effort and operational risk.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Future Scope: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Real-time stream processing (Kafka/RabbitMQ).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Self-learning feedback loops to improve ML models.</a:t>
            </a:r>
          </a:p>
          <a:p>
            <a:pPr marL="800100" lvl="1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Advanced visualization dashboards for match statistics.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276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657</Words>
  <Application>Microsoft Office PowerPoint</Application>
  <PresentationFormat>Widescreen</PresentationFormat>
  <Paragraphs>110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 Vignesh Ramakrishna</dc:creator>
  <cp:lastModifiedBy>Hema Vignesh Ramakrishna</cp:lastModifiedBy>
  <cp:revision>8</cp:revision>
  <dcterms:created xsi:type="dcterms:W3CDTF">2026-01-29T08:17:13Z</dcterms:created>
  <dcterms:modified xsi:type="dcterms:W3CDTF">2026-01-29T08:52:51Z</dcterms:modified>
</cp:coreProperties>
</file>